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3891200" cy="3291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3891200" cy="2926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43891200" cy="137160"/>
          </a:xfrm>
          <a:prstGeom prst="rect">
            <a:avLst/>
          </a:prstGeom>
          <a:solidFill>
            <a:srgbClr val="C81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42976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6400" b="1">
                <a:solidFill>
                  <a:srgbClr val="FFFFFF"/>
                </a:solidFill>
              </a:rPr>
              <a:t>Longitudinal CEA Trajectories and Disease Progression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4297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0">
                <a:solidFill>
                  <a:srgbClr val="FFFFFF"/>
                </a:solidFill>
              </a:rPr>
              <a:t>Prediction in Colorectal Cancer  —  MSK-CHORD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4297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DDE7F5"/>
                </a:solidFill>
              </a:rPr>
              <a:t>Yanan Fang   |   Biostat 629: Case Studies in Health Big Data   | 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7472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520439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3716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Colorectal cancer (CRC) is the 2nd-largest cohort in MSK-CHORD (5,543 pts).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CEA (carcinoembryonic antigen) is the standard CRC monitoring biomarker,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with rich longitudinal data (~12 measurements/patient, median).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Question: Can historical CEA trajectory features predict disease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progression within the next 6 months, beyond clinical &amp; genomic features?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763524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7680960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Research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8503919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3D91"/>
                </a:solidFill>
              </a:rPr>
              <a:t>Landmark prediction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143999"/>
            <a:ext cx="13716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Each analysis unit = a CEA measurement occasion (landmark t).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Eligible if: ≥2 prior CEA values AND ≥1 progression assessment in (t, t+180d].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Outcome Y(t) = 1 if any PROGRESSION="Y" in (t, t+180d];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           = 0 if ≥1 "N" and no "Y"; excluded if only Indeterminate.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Features strictly use information up to time t  —  no leakage.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344168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3487400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4310359"/>
            <a:ext cx="13716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Time-varying (CEA trajectory):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   log(CEA) at t,  90-day slope of log(CEA),  coefficient of variation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   time since diagnosis,  current treatment type (chemo/targeted/immuno/none)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Time-fixed (clinical):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   age, sex, stage, MSI status, TMB, prior medications (3-level)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Genomic (extended model):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   binary indicators for KRAS, APC, TP53, BRAF, PIK3CA, SMAD4,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0" y="347472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767559" y="3520439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Cohort: CEA Trajectories</a:t>
            </a:r>
          </a:p>
        </p:txBody>
      </p:sp>
      <p:pic>
        <p:nvPicPr>
          <p:cNvPr id="19" name="Picture 18" descr="fig1_cea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4343400"/>
            <a:ext cx="13716000" cy="53035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4630400" y="973836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</a:rPr>
              <a:t>Fig 1. Individual log(CEA) trajectories; colored by progression status.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0" y="1046988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67559" y="10515600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0" y="1133856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3D91"/>
                </a:solidFill>
              </a:rPr>
              <a:t>Model A — Mixed-effects logistic regression (primary)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0" y="11978640"/>
            <a:ext cx="13716000" cy="1737360"/>
          </a:xfrm>
          <a:prstGeom prst="rect">
            <a:avLst/>
          </a:prstGeom>
          <a:solidFill>
            <a:srgbClr val="EE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813280" y="12070080"/>
            <a:ext cx="13350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</a:rPr>
              <a:t>logit P(Y(t)=1) = β0 + β1·log_cea + β2·cea_slope_90d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</a:rPr>
              <a:t>                + β3·cea_cv + β4·time_since_dx + β5·tx_type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</a:rPr>
              <a:t>                + β6·age + β7·sex + β8·stage + β9·msi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222222"/>
                </a:solidFill>
              </a:rPr>
              <a:t>                + β10·prior_med + (1 | patient_id)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0" y="1389888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0B3D91"/>
                </a:solidFill>
              </a:rPr>
              <a:t>Model B — Penalized GEE (SCAD) with genomic covariates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0" y="14538959"/>
            <a:ext cx="137160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Extends Model A with TMB + top-10 recurrently mutated CRC genes.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SCAD penalty performs variable selection while accounting for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within-patient correlation (exchangeable working structure).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λ selected by BIC within training folds.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Validation:  patient-level 70/30 split; test set used exactly once.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Metrics: AUC, Brier score, calibration; DeLong test for Model A vs B.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0" y="347472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40760" y="3520439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Results: Discrimination</a:t>
            </a:r>
          </a:p>
        </p:txBody>
      </p:sp>
      <p:pic>
        <p:nvPicPr>
          <p:cNvPr id="30" name="Picture 29" descr="fig3_roc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0" y="4343400"/>
            <a:ext cx="13716000" cy="53035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28803600" y="973836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</a:rPr>
              <a:t>Fig 2. ROC curves on held-out test set: Model A vs. Model B.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803600" y="1046988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940760" y="10515600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Results: Calibration</a:t>
            </a:r>
          </a:p>
        </p:txBody>
      </p:sp>
      <p:pic>
        <p:nvPicPr>
          <p:cNvPr id="34" name="Picture 33" descr="fig4_calib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0" y="11338560"/>
            <a:ext cx="6766560" cy="4114800"/>
          </a:xfrm>
          <a:prstGeom prst="rect">
            <a:avLst/>
          </a:prstGeom>
        </p:spPr>
      </p:pic>
      <p:pic>
        <p:nvPicPr>
          <p:cNvPr id="35" name="Picture 34" descr="fig5_conformal_singlet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0" y="11338560"/>
            <a:ext cx="6766560" cy="41148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8803600" y="15544800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555555"/>
                </a:solidFill>
              </a:rPr>
              <a:t>Fig 3. Calibration plot (left) and conformal singleton fraction by risk decile (right).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803600" y="16276320"/>
            <a:ext cx="13716000" cy="64008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940760" y="16322040"/>
            <a:ext cx="1344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0" y="17145000"/>
            <a:ext cx="13716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CEA trajectory features (90-day slope, variability) carry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predictive signal beyond the single most recent value.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Adding sparse genomic covariates via penalized GEE yields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modest AUC gains while keeping the model interpretable.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Split conformal prediction provides distribution-free coverage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and flags uncertain landmarks (prediction set = {0,1}).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</a:t>
            </a:r>
          </a:p>
          <a:p>
            <a:pPr algn="l">
              <a:spcAft>
                <a:spcPts val="400"/>
              </a:spcAft>
            </a:pPr>
            <a:r>
              <a:rPr sz="2200" b="0">
                <a:solidFill>
                  <a:srgbClr val="222222"/>
                </a:solidFill>
              </a:rPr>
              <a:t>• Framework is reusable for other biomarker–outcome pairs in CHORD.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32369760"/>
            <a:ext cx="43891200" cy="548640"/>
          </a:xfrm>
          <a:prstGeom prst="rect">
            <a:avLst/>
          </a:prstGeom>
          <a:solidFill>
            <a:srgbClr val="0B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32415480"/>
            <a:ext cx="4297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</a:rPr>
              <a:t>Data: MSK-CHORD 2024  |  References: ISLR Ch.6, 8, 11; Raschka (2018); Vovk et al. (conformal prediction)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