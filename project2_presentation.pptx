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2" r:id="rId1"/>
    <p:sldMasterId id="2147483653" r:id="rId2"/>
    <p:sldMasterId id="2147483654" r:id="rId3"/>
    <p:sldMasterId id="2147483655" r:id="rId4"/>
  </p:sldMasterIdLst>
  <p:notesMasterIdLst>
    <p:notesMasterId r:id="rId12"/>
  </p:notesMasterIdLst>
  <p:sldIdLst>
    <p:sldId id="256" r:id="rId5"/>
    <p:sldId id="257" r:id="rId6"/>
    <p:sldId id="269" r:id="rId7"/>
    <p:sldId id="274" r:id="rId8"/>
    <p:sldId id="275" r:id="rId9"/>
    <p:sldId id="273" r:id="rId10"/>
    <p:sldId id="276" r:id="rId17"/>
    <p:sldId id="277" r:id="rId18"/>
    <p:sldId id="278" r:id="rId19"/>
    <p:sldId id="279" r:id="rId20"/>
    <p:sldId id="280" r:id="rId21"/>
    <p:sldId id="268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3" autoAdjust="0"/>
    <p:restoredTop sz="94660"/>
  </p:normalViewPr>
  <p:slideViewPr>
    <p:cSldViewPr snapToGrid="0">
      <p:cViewPr varScale="1">
        <p:scale>
          <a:sx n="59" d="100"/>
          <a:sy n="59" d="100"/>
        </p:scale>
        <p:origin x="7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12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>
          <a:extLst>
            <a:ext uri="{FF2B5EF4-FFF2-40B4-BE49-F238E27FC236}">
              <a16:creationId xmlns:a16="http://schemas.microsoft.com/office/drawing/2014/main" id="{D971C444-BA7D-9039-E912-A5EA16D78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:notes">
            <a:extLst>
              <a:ext uri="{FF2B5EF4-FFF2-40B4-BE49-F238E27FC236}">
                <a16:creationId xmlns:a16="http://schemas.microsoft.com/office/drawing/2014/main" id="{452C861E-0877-71C9-7AF7-5B656EBF95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6:notes">
            <a:extLst>
              <a:ext uri="{FF2B5EF4-FFF2-40B4-BE49-F238E27FC236}">
                <a16:creationId xmlns:a16="http://schemas.microsoft.com/office/drawing/2014/main" id="{AE981F69-4D18-38C0-41AA-D6ABE078C1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1904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>
          <a:extLst>
            <a:ext uri="{FF2B5EF4-FFF2-40B4-BE49-F238E27FC236}">
              <a16:creationId xmlns:a16="http://schemas.microsoft.com/office/drawing/2014/main" id="{A8E43A04-D41A-A336-117F-9FB73C5DF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:notes">
            <a:extLst>
              <a:ext uri="{FF2B5EF4-FFF2-40B4-BE49-F238E27FC236}">
                <a16:creationId xmlns:a16="http://schemas.microsoft.com/office/drawing/2014/main" id="{3CA91283-ACD6-F4A8-4198-E30320451C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6:notes">
            <a:extLst>
              <a:ext uri="{FF2B5EF4-FFF2-40B4-BE49-F238E27FC236}">
                <a16:creationId xmlns:a16="http://schemas.microsoft.com/office/drawing/2014/main" id="{A9B3C7F8-8EB9-E237-264E-D0D2840B14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57433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>
          <a:extLst>
            <a:ext uri="{FF2B5EF4-FFF2-40B4-BE49-F238E27FC236}">
              <a16:creationId xmlns:a16="http://schemas.microsoft.com/office/drawing/2014/main" id="{60A3D31E-3A9E-4665-46AE-D89BD592B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:notes">
            <a:extLst>
              <a:ext uri="{FF2B5EF4-FFF2-40B4-BE49-F238E27FC236}">
                <a16:creationId xmlns:a16="http://schemas.microsoft.com/office/drawing/2014/main" id="{A1A06EA1-06E7-34E8-9A77-65188FCB4E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6:notes">
            <a:extLst>
              <a:ext uri="{FF2B5EF4-FFF2-40B4-BE49-F238E27FC236}">
                <a16:creationId xmlns:a16="http://schemas.microsoft.com/office/drawing/2014/main" id="{7FA78BF2-0318-FD31-331A-4DC33F9E07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1117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>
          <a:extLst>
            <a:ext uri="{FF2B5EF4-FFF2-40B4-BE49-F238E27FC236}">
              <a16:creationId xmlns:a16="http://schemas.microsoft.com/office/drawing/2014/main" id="{27393E32-93B8-B90D-4551-52010631A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:notes">
            <a:extLst>
              <a:ext uri="{FF2B5EF4-FFF2-40B4-BE49-F238E27FC236}">
                <a16:creationId xmlns:a16="http://schemas.microsoft.com/office/drawing/2014/main" id="{EA35F7B4-0912-2A2E-0EAC-D948F9485D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" name="Google Shape;38;p6:notes">
            <a:extLst>
              <a:ext uri="{FF2B5EF4-FFF2-40B4-BE49-F238E27FC236}">
                <a16:creationId xmlns:a16="http://schemas.microsoft.com/office/drawing/2014/main" id="{2835D004-0B01-2B01-983B-246B09BA21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8492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 Slide 1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0" y="4989403"/>
            <a:ext cx="12192000" cy="990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0" y="3468413"/>
            <a:ext cx="12192000" cy="977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ctrTitle"/>
          </p:nvPr>
        </p:nvSpPr>
        <p:spPr>
          <a:xfrm>
            <a:off x="0" y="3005958"/>
            <a:ext cx="12192000" cy="1407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00"/>
              <a:buFont typeface="Calibri"/>
              <a:buNone/>
              <a:defRPr sz="48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ubTitle" idx="1"/>
          </p:nvPr>
        </p:nvSpPr>
        <p:spPr>
          <a:xfrm>
            <a:off x="0" y="4989403"/>
            <a:ext cx="12192000" cy="990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4C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274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1">
  <p:cSld name="Content Slide 1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>
            <a:spLocks noGrp="1"/>
          </p:cNvSpPr>
          <p:nvPr>
            <p:ph type="ctrTitle"/>
          </p:nvPr>
        </p:nvSpPr>
        <p:spPr>
          <a:xfrm>
            <a:off x="1524000" y="355108"/>
            <a:ext cx="9144000" cy="864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4800"/>
              <a:buFont typeface="Calibri"/>
              <a:buNone/>
              <a:defRPr sz="4800" b="1" i="0" u="none" strike="noStrike" cap="none">
                <a:solidFill>
                  <a:srgbClr val="00274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subTitle" idx="1"/>
          </p:nvPr>
        </p:nvSpPr>
        <p:spPr>
          <a:xfrm>
            <a:off x="1524000" y="1542009"/>
            <a:ext cx="9144000" cy="4596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5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"/>
          <p:cNvSpPr txBox="1">
            <a:spLocks noGrp="1"/>
          </p:cNvSpPr>
          <p:nvPr>
            <p:ph type="ctrTitle"/>
          </p:nvPr>
        </p:nvSpPr>
        <p:spPr>
          <a:xfrm>
            <a:off x="1524000" y="355108"/>
            <a:ext cx="9144000" cy="864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4800"/>
              <a:buFont typeface="Calibri"/>
              <a:buNone/>
              <a:defRPr sz="4800" b="1" i="0" u="none" strike="noStrike" cap="none">
                <a:solidFill>
                  <a:srgbClr val="00274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1524000" y="1542009"/>
            <a:ext cx="9144000" cy="4596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dt" idx="10"/>
          </p:nvPr>
        </p:nvSpPr>
        <p:spPr>
          <a:xfrm>
            <a:off x="11014841" y="6474372"/>
            <a:ext cx="974834" cy="247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274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ftr" idx="11"/>
          </p:nvPr>
        </p:nvSpPr>
        <p:spPr>
          <a:xfrm>
            <a:off x="1524000" y="6474372"/>
            <a:ext cx="9144000" cy="247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sldNum" idx="12"/>
          </p:nvPr>
        </p:nvSpPr>
        <p:spPr>
          <a:xfrm>
            <a:off x="0" y="6474372"/>
            <a:ext cx="1135117" cy="247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Relationship Id="rId3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Relationship Id="rId3" Type="http://schemas.openxmlformats.org/officeDocument/2006/relationships/image" Target="../media/image3.jp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4.xml"/><Relationship Id="rId3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30800" y="720890"/>
            <a:ext cx="1930400" cy="20574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30800" y="720890"/>
            <a:ext cx="1930400" cy="2057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Google Shape;13;p3"/>
          <p:cNvCxnSpPr/>
          <p:nvPr/>
        </p:nvCxnSpPr>
        <p:spPr>
          <a:xfrm>
            <a:off x="0" y="4445876"/>
            <a:ext cx="12192000" cy="0"/>
          </a:xfrm>
          <a:prstGeom prst="straightConnector1">
            <a:avLst/>
          </a:prstGeom>
          <a:noFill/>
          <a:ln w="762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ctrTitle"/>
          </p:nvPr>
        </p:nvSpPr>
        <p:spPr>
          <a:xfrm>
            <a:off x="0" y="3005958"/>
            <a:ext cx="12192000" cy="1407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buClr>
                <a:srgbClr val="00274C"/>
              </a:buClr>
            </a:pPr>
            <a:r>
              <a:rPr lang="en-US" altLang="zh-CN" dirty="0"/>
              <a:t>Longitudinal CEA Trajectories and Disease Progression Prediction in Colorectal Cancer</a:t>
            </a:r>
            <a:endParaRPr dirty="0"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0" y="4815232"/>
            <a:ext cx="12192000" cy="990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000"/>
              <a:buNone/>
            </a:pPr>
            <a:r>
              <a:rPr lang="en-US" sz="2300" b="1" dirty="0"/>
              <a:t>Yanan Fang</a:t>
            </a:r>
            <a:endParaRPr sz="23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ctrTitle"/>
          </p:nvPr>
        </p:nvSpPr>
        <p:spPr>
          <a:xfrm>
            <a:off x="1524000" y="355108"/>
            <a:ext cx="9144000" cy="864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4800"/>
              <a:buFont typeface="Calibri"/>
              <a:buNone/>
            </a:pPr>
            <a:r>
              <a:rPr lang="en-US" altLang="zh-CN" dirty="0"/>
              <a:t>Introduction</a:t>
            </a:r>
            <a:endParaRPr dirty="0"/>
          </a:p>
        </p:txBody>
      </p:sp>
      <p:sp>
        <p:nvSpPr>
          <p:cNvPr id="41" name="Google Shape;41;p10"/>
          <p:cNvSpPr txBox="1">
            <a:spLocks noGrp="1"/>
          </p:cNvSpPr>
          <p:nvPr>
            <p:ph type="subTitle" idx="1"/>
          </p:nvPr>
        </p:nvSpPr>
        <p:spPr>
          <a:xfrm>
            <a:off x="921450" y="1424667"/>
            <a:ext cx="10349100" cy="4008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zh-CN" sz="3000" b="1" dirty="0">
                <a:solidFill>
                  <a:schemeClr val="accent1">
                    <a:lumMod val="50000"/>
                  </a:schemeClr>
                </a:solidFill>
              </a:rPr>
              <a:t>Background</a:t>
            </a:r>
          </a:p>
          <a:p>
            <a:r>
              <a:rPr lang="en-US" altLang="zh-CN" dirty="0"/>
              <a:t>● Carcinoembryonic antigen (CEA) is the most widely used biomarker for colorectal cancer (CRC) surveillance, but single-point thresholds have limited sensitivity.</a:t>
            </a:r>
            <a:r>
              <a:rPr lang="zh-CN" altLang="en-US" dirty="0"/>
              <a:t/>
            </a:r>
            <a:r>
              <a:rPr lang="en-US" altLang="zh-CN" dirty="0"/>
              <a:t/>
            </a:r>
          </a:p>
          <a:p>
            <a:endParaRPr lang="en-US" altLang="zh-CN" dirty="0"/>
          </a:p>
          <a:p>
            <a:r>
              <a:rPr lang="en-US" altLang="zh-CN" dirty="0"/>
              <a:t>● Longitudinal CEA trajectory features (slope, variability) may capture disease dynamics missed by static values.</a:t>
            </a:r>
          </a:p>
          <a:p>
            <a:endParaRPr lang="en-US" altLang="zh-CN" dirty="0"/>
          </a:p>
          <a:p>
            <a:r>
              <a:rPr lang="en-US" altLang="zh-CN" dirty="0"/>
              <a:t>● The landmark prediction framework enables dynamic risk assessment at each clinical visit using only pre-landmark data.</a:t>
            </a:r>
            <a:r>
              <a:rPr lang="en-US" altLang="zh-CN" dirty="0" err="1"/>
              <a:t/>
            </a:r>
            <a:r>
              <a:rPr lang="en-US" altLang="zh-CN" dirty="0"/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>
          <a:extLst>
            <a:ext uri="{FF2B5EF4-FFF2-40B4-BE49-F238E27FC236}">
              <a16:creationId xmlns:a16="http://schemas.microsoft.com/office/drawing/2014/main" id="{985DA6C0-5419-4B1D-480B-B516EF85E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>
            <a:extLst>
              <a:ext uri="{FF2B5EF4-FFF2-40B4-BE49-F238E27FC236}">
                <a16:creationId xmlns:a16="http://schemas.microsoft.com/office/drawing/2014/main" id="{B5C573E4-0C2A-3505-848D-35A153C8E42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355108"/>
            <a:ext cx="9144000" cy="864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4800"/>
              <a:buFont typeface="Calibri"/>
              <a:buNone/>
            </a:pPr>
            <a:r>
              <a:rPr lang="en-US" altLang="zh-CN" dirty="0"/>
              <a:t>Introduction</a:t>
            </a:r>
            <a:endParaRPr dirty="0"/>
          </a:p>
        </p:txBody>
      </p:sp>
      <p:sp>
        <p:nvSpPr>
          <p:cNvPr id="5" name="Google Shape;41;p10">
            <a:extLst>
              <a:ext uri="{FF2B5EF4-FFF2-40B4-BE49-F238E27FC236}">
                <a16:creationId xmlns:a16="http://schemas.microsoft.com/office/drawing/2014/main" id="{35CFC755-7B8C-4970-EC14-C1CD235B86B3}"/>
              </a:ext>
            </a:extLst>
          </p:cNvPr>
          <p:cNvSpPr txBox="1">
            <a:spLocks/>
          </p:cNvSpPr>
          <p:nvPr/>
        </p:nvSpPr>
        <p:spPr>
          <a:xfrm>
            <a:off x="921450" y="1134760"/>
            <a:ext cx="10349100" cy="458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altLang="zh-CN" sz="3000" b="1" dirty="0">
                <a:solidFill>
                  <a:schemeClr val="accent1">
                    <a:lumMod val="50000"/>
                  </a:schemeClr>
                </a:solidFill>
              </a:rPr>
              <a:t>Research question</a:t>
            </a:r>
            <a:r>
              <a:rPr lang="en-US" altLang="zh-CN" b="1" dirty="0"/>
              <a:t/>
            </a:r>
          </a:p>
          <a:p>
            <a:r>
              <a:rPr lang="en-US" altLang="zh-CN" dirty="0"/>
              <a:t>In the MSK-CHORD CRC cohort, do longitudinal CEA trajectory features improve 180-day disease progression prediction beyond standard clinical variables?</a:t>
            </a:r>
          </a:p>
          <a:p>
            <a:r>
              <a:rPr lang="en-US" altLang="zh-CN" sz="3000" b="1" dirty="0">
                <a:solidFill>
                  <a:schemeClr val="accent1">
                    <a:lumMod val="50000"/>
                  </a:schemeClr>
                </a:solidFill>
              </a:rPr>
              <a:t>Hypothesis: </a:t>
            </a:r>
          </a:p>
          <a:p>
            <a:r>
              <a:rPr lang="en-US" altLang="zh-CN" dirty="0"/>
              <a:t>Rising CEA slope and higher CEA variability are associated with increased progression risk.</a:t>
            </a:r>
          </a:p>
          <a:p>
            <a:r>
              <a:rPr lang="en-US" sz="3000" b="1" dirty="0">
                <a:solidFill>
                  <a:schemeClr val="accent1">
                    <a:lumMod val="50000"/>
                  </a:schemeClr>
                </a:solidFill>
              </a:rPr>
              <a:t>Approaches:</a:t>
            </a:r>
          </a:p>
          <a:p>
            <a:r>
              <a:rPr lang="en-US" altLang="zh-CN" dirty="0"/>
              <a:t>● Model 0: Clinical-only GLMM (baseline)</a:t>
            </a:r>
          </a:p>
          <a:p>
            <a:r>
              <a:rPr lang="en-US" altLang="zh-CN" dirty="0"/>
              <a:t>● Model A: Clinical + CEA trajectory GLMM</a:t>
            </a:r>
          </a:p>
          <a:p>
            <a:r>
              <a:rPr lang="en-US" altLang="zh-CN" dirty="0"/>
              <a:t>● Model B: LASSO logistic regression with genomic covariates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899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>
          <a:extLst>
            <a:ext uri="{FF2B5EF4-FFF2-40B4-BE49-F238E27FC236}">
              <a16:creationId xmlns:a16="http://schemas.microsoft.com/office/drawing/2014/main" id="{A06D891D-6046-28B4-E56F-955E14DA7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>
            <a:extLst>
              <a:ext uri="{FF2B5EF4-FFF2-40B4-BE49-F238E27FC236}">
                <a16:creationId xmlns:a16="http://schemas.microsoft.com/office/drawing/2014/main" id="{DD547F2B-42A9-4C2D-668A-6D74968D896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355108"/>
            <a:ext cx="9144000" cy="864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4800"/>
              <a:buFont typeface="Calibri"/>
              <a:buNone/>
            </a:pPr>
            <a:r>
              <a:rPr lang="en-US" dirty="0"/>
              <a:t>Data processing</a:t>
            </a:r>
            <a:endParaRPr dirty="0"/>
          </a:p>
        </p:txBody>
      </p:sp>
      <p:sp>
        <p:nvSpPr>
          <p:cNvPr id="5" name="Google Shape;41;p10">
            <a:extLst>
              <a:ext uri="{FF2B5EF4-FFF2-40B4-BE49-F238E27FC236}">
                <a16:creationId xmlns:a16="http://schemas.microsoft.com/office/drawing/2014/main" id="{730338CA-A75B-DF19-AB75-B4C456D46BA1}"/>
              </a:ext>
            </a:extLst>
          </p:cNvPr>
          <p:cNvSpPr txBox="1">
            <a:spLocks/>
          </p:cNvSpPr>
          <p:nvPr/>
        </p:nvSpPr>
        <p:spPr>
          <a:xfrm>
            <a:off x="770968" y="1100817"/>
            <a:ext cx="10650064" cy="4656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Input data</a:t>
            </a:r>
            <a:r>
              <a:rPr lang="en-US" altLang="zh-CN" sz="3000" b="1" dirty="0">
                <a:solidFill>
                  <a:schemeClr val="accent1">
                    <a:lumMod val="50000"/>
                  </a:schemeClr>
                </a:solidFill>
              </a:rPr>
              <a:t>: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altLang="zh-CN" dirty="0">
                <a:solidFill>
                  <a:srgbClr val="000000"/>
                </a:solidFill>
              </a:rPr>
              <a:t>Seven datasets from MSK-CHORD 2024:</a:t>
            </a:r>
            <a:r>
              <a:rPr lang="en-US" altLang="zh-CN" dirty="0"/>
              <a:t/>
            </a:r>
          </a:p>
          <a:p>
            <a:r>
              <a:rPr lang="en-US" altLang="zh-CN" b="0" dirty="0">
                <a:solidFill>
                  <a:schemeClr val="accent1">
                    <a:lumMod val="50000"/>
                  </a:schemeClr>
                </a:solidFill>
              </a:rPr>
              <a:t>1. data_clinical_patient   2. data_clinical_sample   3. data_timeline_cea_labs</a:t>
            </a:r>
            <a:r>
              <a:rPr lang="en-US" altLang="zh-CN" b="1" dirty="0"/>
              <a:t/>
            </a:r>
            <a:r>
              <a:rPr lang="en-US" altLang="zh-CN" dirty="0"/>
              <a:t/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/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/>
            </a:r>
            <a:r>
              <a:rPr lang="en-US" altLang="zh-CN" dirty="0"/>
              <a:t/>
            </a:r>
          </a:p>
          <a:p>
            <a:r>
              <a:rPr lang="en-US" altLang="zh-CN" b="0" dirty="0">
                <a:solidFill>
                  <a:schemeClr val="accent1">
                    <a:lumMod val="50000"/>
                  </a:schemeClr>
                </a:solidFill>
              </a:rPr>
              <a:t>4. data_timeline_progression   5. data_timeline_diagnosis   6. data_timeline_treatment   7. data_mutations</a:t>
            </a:r>
            <a:r>
              <a:rPr lang="en-US" altLang="zh-CN" dirty="0"/>
              <a:t/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/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/>
            </a:r>
            <a:r>
              <a:rPr lang="en-US" altLang="zh-CN" dirty="0"/>
              <a:t/>
            </a:r>
            <a:endParaRPr lang="en-US" altLang="zh-CN" sz="3000" b="1" dirty="0">
              <a:solidFill>
                <a:srgbClr val="000000"/>
              </a:solidFill>
            </a:endParaRPr>
          </a:p>
          <a:p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Variables:</a:t>
            </a:r>
          </a:p>
          <a:p>
            <a:pPr lvl="0">
              <a:spcBef>
                <a:spcPts val="0"/>
              </a:spcBef>
              <a:buClr>
                <a:srgbClr val="000000"/>
              </a:buClr>
              <a:defRPr/>
            </a:pP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lvl="0">
              <a:spcBef>
                <a:spcPts val="0"/>
              </a:spcBef>
              <a:buClr>
                <a:srgbClr val="000000"/>
              </a:buClr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822960" y="3931920"/>
          <a:ext cx="10515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5669280"/>
              </a:tblGrid>
              <a:tr h="19812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b="1"/>
                        <a:t>Role</a:t>
                      </a:r>
                    </a:p>
                  </a:txBody>
                  <a:tcPr anchor="ctr" marL="73152" marR="54864" marT="18288" marB="18288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b="1"/>
                        <a:t>Variable</a:t>
                      </a:r>
                    </a:p>
                  </a:txBody>
                  <a:tcPr anchor="ctr" marL="73152" marR="54864" marT="18288" marB="18288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b="1"/>
                        <a:t>Source</a:t>
                      </a:r>
                    </a:p>
                  </a:txBody>
                  <a:tcPr anchor="ctr" marL="73152" marR="54864" marT="18288" marB="18288">
                    <a:solidFill>
                      <a:srgbClr val="1B365D"/>
                    </a:solidFill>
                  </a:tcPr>
                </a:tc>
              </a:tr>
              <a:tr h="19812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Outcome</a:t>
                      </a:r>
                    </a:p>
                  </a:txBody>
                  <a:tcPr anchor="ctr" marL="73152" marR="54864" marT="18288" marB="18288">
                    <a:solidFill>
                      <a:srgbClr val="CAD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180-day progression (Y/N)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B365D"/>
                          </a:solidFill>
                          <a:latin typeface="Consolas"/>
                        </a:defRPr>
                      </a:pPr>
                      <a:r>
                        <a:t>data_timeline_progression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Primary Predictor</a:t>
                      </a:r>
                      <a:br/>
                      <a: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CAD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log(CEA), CEA slope, CEA CV</a:t>
                      </a:r>
                    </a:p>
                  </a:txBody>
                  <a:tcPr anchor="ctr" marL="73152" marR="54864" marT="18288" marB="18288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B365D"/>
                          </a:solidFill>
                          <a:latin typeface="Consolas"/>
                        </a:defRPr>
                      </a:pPr>
                      <a:r>
                        <a:t>data_timeline_cea_labs</a:t>
                      </a:r>
                    </a:p>
                  </a:txBody>
                  <a:tcPr anchor="ctr" marL="73152" marR="54864" marT="18288" marB="18288">
                    <a:solidFill>
                      <a:srgbClr val="EEF1F5"/>
                    </a:solidFill>
                  </a:tcPr>
                </a:tc>
              </a:tr>
              <a:tr h="19812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Covariates</a:t>
                      </a:r>
                    </a:p>
                  </a:txBody>
                  <a:tcPr anchor="ctr" marL="73152" marR="54864" marT="18288" marB="18288">
                    <a:solidFill>
                      <a:srgbClr val="CAD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Age, Sex, Stage (IV vs I-III)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B365D"/>
                          </a:solidFill>
                          <a:latin typeface="Consolas"/>
                        </a:defRPr>
                      </a:pPr>
                      <a:r>
                        <a:t>data_clinical_patient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 anchor="ctr" marL="73152" marR="54864" marT="18288" marB="18288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MSI status, TMB</a:t>
                      </a:r>
                    </a:p>
                  </a:txBody>
                  <a:tcPr anchor="ctr" marL="73152" marR="54864" marT="18288" marB="18288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B365D"/>
                          </a:solidFill>
                          <a:latin typeface="Consolas"/>
                        </a:defRPr>
                      </a:pPr>
                      <a:r>
                        <a:t>data_clinical_sample</a:t>
                      </a:r>
                    </a:p>
                  </a:txBody>
                  <a:tcPr anchor="ctr" marL="73152" marR="54864" marT="18288" marB="18288">
                    <a:solidFill>
                      <a:srgbClr val="EEF1F5"/>
                    </a:solidFill>
                  </a:tcPr>
                </a:tc>
              </a:tr>
              <a:tr h="19812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Treatment type, Prior meds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B365D"/>
                          </a:solidFill>
                          <a:latin typeface="Consolas"/>
                        </a:defRPr>
                      </a:pPr>
                      <a:r>
                        <a:t>data_timeline_treatment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 anchor="ctr" marL="73152" marR="54864" marT="18288" marB="18288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Top 10 gene mutations</a:t>
                      </a:r>
                    </a:p>
                  </a:txBody>
                  <a:tcPr anchor="ctr" marL="73152" marR="54864" marT="18288" marB="18288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B365D"/>
                          </a:solidFill>
                          <a:latin typeface="Consolas"/>
                        </a:defRPr>
                      </a:pPr>
                      <a:r>
                        <a:t>data_mutations</a:t>
                      </a:r>
                    </a:p>
                  </a:txBody>
                  <a:tcPr anchor="ctr" marL="73152" marR="54864" marT="18288" marB="18288">
                    <a:solidFill>
                      <a:srgbClr val="EEF1F5"/>
                    </a:solidFill>
                  </a:tcPr>
                </a:tc>
              </a:tr>
              <a:tr h="19812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CRC diagnosis date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B365D"/>
                          </a:solidFill>
                          <a:latin typeface="Consolas"/>
                        </a:defRPr>
                      </a:pPr>
                      <a:r>
                        <a:t>data_timeline_diagnosis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 anchor="ctr" marL="73152" marR="54864" marT="18288" marB="18288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Cancer type = CRC, CEA &gt;= 3</a:t>
                      </a:r>
                    </a:p>
                  </a:txBody>
                  <a:tcPr anchor="ctr" marL="73152" marR="54864" marT="18288" marB="18288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B365D"/>
                          </a:solidFill>
                          <a:latin typeface="Consolas"/>
                        </a:defRPr>
                      </a:pPr>
                      <a:r>
                        <a:t>data_clinical_sample</a:t>
                      </a:r>
                    </a:p>
                  </a:txBody>
                  <a:tcPr anchor="ctr" marL="73152" marR="54864" marT="18288" marB="18288">
                    <a:solidFill>
                      <a:srgbClr val="EEF1F5"/>
                    </a:solidFill>
                  </a:tcPr>
                </a:tc>
              </a:tr>
              <a:tr h="19812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B365D"/>
                          </a:solidFill>
                          <a:latin typeface="Consolas"/>
                        </a:defRPr>
                      </a:pPr>
                      <a: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CAD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B365D"/>
                          </a:solidFill>
                          <a:latin typeface="Consolas"/>
                        </a:defRPr>
                      </a:pPr>
                      <a: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EEF1F5"/>
                    </a:solidFill>
                  </a:tcPr>
                </a:tc>
              </a:tr>
              <a:tr h="19812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CAD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B365D"/>
                          </a:solidFill>
                          <a:latin typeface="Consolas"/>
                        </a:defRPr>
                      </a:pPr>
                      <a: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5641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>
          <a:extLst>
            <a:ext uri="{FF2B5EF4-FFF2-40B4-BE49-F238E27FC236}">
              <a16:creationId xmlns:a16="http://schemas.microsoft.com/office/drawing/2014/main" id="{27E3900E-9C7F-19E6-B9BB-B2B3248A3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>
            <a:extLst>
              <a:ext uri="{FF2B5EF4-FFF2-40B4-BE49-F238E27FC236}">
                <a16:creationId xmlns:a16="http://schemas.microsoft.com/office/drawing/2014/main" id="{43D8232F-45FA-C2B2-3A78-D6F3E95D2B9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355108"/>
            <a:ext cx="9144000" cy="864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4800"/>
              <a:buFont typeface="Calibri"/>
              <a:buNone/>
            </a:pPr>
            <a:r>
              <a:rPr lang="en-US" dirty="0"/>
              <a:t>Data processing</a:t>
            </a:r>
            <a:endParaRPr dirty="0"/>
          </a:p>
        </p:txBody>
      </p:sp>
      <p:sp>
        <p:nvSpPr>
          <p:cNvPr id="5" name="Google Shape;41;p10">
            <a:extLst>
              <a:ext uri="{FF2B5EF4-FFF2-40B4-BE49-F238E27FC236}">
                <a16:creationId xmlns:a16="http://schemas.microsoft.com/office/drawing/2014/main" id="{2167A72D-04A5-CBAA-96DB-CE464BF22A1C}"/>
              </a:ext>
            </a:extLst>
          </p:cNvPr>
          <p:cNvSpPr txBox="1">
            <a:spLocks/>
          </p:cNvSpPr>
          <p:nvPr/>
        </p:nvSpPr>
        <p:spPr>
          <a:xfrm>
            <a:off x="770968" y="1219200"/>
            <a:ext cx="10650064" cy="4408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lang="en-US" altLang="zh-CN" sz="3000" b="1" dirty="0">
                <a:solidFill>
                  <a:schemeClr val="accent1">
                    <a:lumMod val="50000"/>
                  </a:schemeClr>
                </a:solidFill>
              </a:rPr>
              <a:t>Cohort assembly: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  <a:p>
            <a:pPr lvl="0">
              <a:spcBef>
                <a:spcPts val="0"/>
              </a:spcBef>
              <a:buClr>
                <a:srgbClr val="000000"/>
              </a:buClr>
              <a:defRPr/>
            </a:pPr>
            <a:r>
              <a:rPr lang="en-US" altLang="zh-CN" dirty="0"/>
              <a:t>● Restricted to colorectal cancer patients (n = 5,543) with ≥ 3 CEA measurements.</a:t>
            </a:r>
          </a:p>
          <a:p>
            <a:pPr>
              <a:spcBef>
                <a:spcPts val="0"/>
              </a:spcBef>
              <a:buClr>
                <a:srgbClr val="000000"/>
              </a:buClr>
              <a:defRPr/>
            </a:pPr>
            <a:r>
              <a:rPr lang="en-US" altLang="zh-CN" dirty="0"/>
              <a:t>● CRC-specific diagnosis anchoring using ICD topography codes (C18-C21).</a:t>
            </a:r>
            <a:endParaRPr lang="en-US" altLang="zh-CN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buClr>
                <a:srgbClr val="000000"/>
              </a:buClr>
              <a:defRPr/>
            </a:pPr>
            <a:r>
              <a:rPr lang="en-US" altLang="zh-CN" dirty="0"/>
              <a:t>● Landmark construction: each CEA measurement (index ≥ 3) as potential landmark.</a:t>
            </a:r>
            <a:endParaRPr lang="en-US" altLang="zh-CN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buClr>
                <a:srgbClr val="000000"/>
              </a:buClr>
              <a:defRPr/>
            </a:pPr>
            <a:r>
              <a:rPr lang="en-US" altLang="zh-CN" dirty="0"/>
              <a:t>● Features computed using only pre-landmark data: log(CEA), 90-day slope, CEA CV.</a:t>
            </a:r>
            <a:endParaRPr lang="en-US" altLang="zh-CN" sz="300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buClr>
                <a:srgbClr val="000000"/>
              </a:buClr>
              <a:defRPr/>
            </a:pPr>
            <a:r>
              <a:rPr lang="en-US" altLang="zh-CN" sz="3000" b="1" dirty="0">
                <a:solidFill>
                  <a:schemeClr val="accent1">
                    <a:lumMod val="50000"/>
                  </a:schemeClr>
                </a:solidFill>
              </a:rPr>
              <a:t>Outcome definition:</a:t>
            </a:r>
          </a:p>
          <a:p>
            <a:r>
              <a:rPr lang="en-US" altLang="zh-CN" b="0" dirty="0">
                <a:solidFill>
                  <a:schemeClr val="accent1">
                    <a:lumMod val="50000"/>
                  </a:schemeClr>
                </a:solidFill>
              </a:rPr>
              <a:t>1. Progression within 180 days of landmark (Y/N).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/>
            </a:r>
            <a:r>
              <a:rPr lang="en-US" altLang="zh-CN" dirty="0"/>
              <a:t/>
            </a:r>
          </a:p>
          <a:p>
            <a:r>
              <a:rPr lang="en-US" altLang="zh-CN" b="0" dirty="0">
                <a:solidFill>
                  <a:schemeClr val="accent1">
                    <a:lumMod val="50000"/>
                  </a:schemeClr>
                </a:solidFill>
              </a:rPr>
              <a:t>2. Indeterminate-only windows excluded.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/>
            </a:r>
            <a:r>
              <a:rPr lang="en-US" altLang="zh-CN" dirty="0"/>
              <a:t/>
            </a:r>
          </a:p>
          <a:p>
            <a:r>
              <a:rPr lang="en-US" altLang="zh-CN" b="0" dirty="0">
                <a:solidFill>
                  <a:schemeClr val="accent1">
                    <a:lumMod val="50000"/>
                  </a:schemeClr>
                </a:solidFill>
              </a:rPr>
              <a:t>3. Patient-level 70/30 train/test split.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/>
            </a:r>
            <a:r>
              <a:rPr lang="en-US" altLang="zh-CN" dirty="0"/>
              <a:t/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altLang="zh-CN" dirty="0" b="0"/>
              <a:t>Final cohort: 3,950 patients, 68,272 landmarks (progression rate: 57.4%).</a:t>
            </a:r>
            <a:r>
              <a:rPr lang="en-US" altLang="zh-CN" b="0" dirty="0"/>
              <a:t/>
            </a:r>
            <a:r>
              <a:rPr lang="en-US" altLang="zh-CN" dirty="0" b="0"/>
              <a:t/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lvl="0">
              <a:spcBef>
                <a:spcPts val="0"/>
              </a:spcBef>
              <a:buClr>
                <a:srgbClr val="000000"/>
              </a:buClr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7451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>
          <a:extLst>
            <a:ext uri="{FF2B5EF4-FFF2-40B4-BE49-F238E27FC236}">
              <a16:creationId xmlns:a16="http://schemas.microsoft.com/office/drawing/2014/main" id="{2D857EB8-5686-7172-E732-5776A5FC2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>
            <a:extLst>
              <a:ext uri="{FF2B5EF4-FFF2-40B4-BE49-F238E27FC236}">
                <a16:creationId xmlns:a16="http://schemas.microsoft.com/office/drawing/2014/main" id="{33FB610E-EA9C-740C-D7EC-1EB4811A435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355108"/>
            <a:ext cx="9144000" cy="864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4800"/>
              <a:buFont typeface="Calibri"/>
              <a:buNone/>
            </a:pPr>
            <a:r>
              <a:rPr lang="en-US" dirty="0"/>
              <a:t>Statistical Methods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Google Shape;41;p10">
                <a:extLst>
                  <a:ext uri="{FF2B5EF4-FFF2-40B4-BE49-F238E27FC236}">
                    <a16:creationId xmlns:a16="http://schemas.microsoft.com/office/drawing/2014/main" id="{EB38ABA2-4EF3-7722-FD13-D6C7D32B99DA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863495" y="1066798"/>
                <a:ext cx="10465007" cy="49530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r>
                  <a:rPr lang="en-US" altLang="zh-CN" sz="3000" b="1" dirty="0">
                    <a:solidFill>
                      <a:schemeClr val="accent1">
                        <a:lumMod val="50000"/>
                      </a:schemeClr>
                    </a:solidFill>
                  </a:rPr>
                  <a:t>Delayed-Entry Cox Proportional Hazards Model:</a:t>
                </a:r>
              </a:p>
              <a:p>
                <a:endParaRPr lang="en-US" altLang="zh-CN" sz="3000" b="1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r>
                  <a:rPr lang="en-US" altLang="zh-CN" sz="3000" b="1" dirty="0">
                    <a:solidFill>
                      <a:schemeClr val="accent1">
                        <a:lumMod val="50000"/>
                      </a:schemeClr>
                    </a:solidFill>
                  </a:rPr>
                  <a:t>LASSO-Regularized Cox Model:</a:t>
                </a:r>
              </a:p>
              <a:p>
                <a:r>
                  <a:rPr lang="en-US" altLang="zh-CN" dirty="0"/>
                  <a:t>● 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Expanded design matrix to include binary gene-mutation indicators.</a:t>
                </a:r>
              </a:p>
              <a:p>
                <a:r>
                  <a:rPr lang="en-US" altLang="zh-CN" dirty="0"/>
                  <a:t>● 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Applied 10-fold cross-validated LASSO Cox.</a:t>
                </a:r>
              </a:p>
              <a:p>
                <a:r>
                  <a:rPr lang="en-US" altLang="zh-CN" dirty="0"/>
                  <a:t>● 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Retained features with non-zero coefficients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zh-CN" altLang="ar-A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tx1"/>
                    </a:solidFill>
                  </a:rPr>
                  <a:t>.</a:t>
                </a:r>
                <a:endParaRPr lang="ar-AE" altLang="zh-CN" dirty="0">
                  <a:solidFill>
                    <a:schemeClr val="tx1"/>
                  </a:solidFill>
                </a:endParaRPr>
              </a:p>
              <a:p>
                <a:r>
                  <a:rPr lang="ar-AE" altLang="zh-CN" dirty="0"/>
                  <a:t>● 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Constructed a continuous risk score and evaluated it in a Cox model.</a:t>
                </a:r>
                <a:endParaRPr lang="en-US" sz="3000" b="1" i="1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r>
                  <a:rPr lang="en-US" altLang="zh-CN" sz="3000" b="1" dirty="0">
                    <a:solidFill>
                      <a:schemeClr val="accent1">
                        <a:lumMod val="50000"/>
                      </a:schemeClr>
                    </a:solidFill>
                  </a:rPr>
                  <a:t>Survival Tree Analysis:</a:t>
                </a:r>
                <a:endParaRPr lang="en-US" sz="3000" b="1" i="1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lvl="0">
                  <a:spcBef>
                    <a:spcPts val="0"/>
                  </a:spcBef>
                </a:pPr>
                <a:r>
                  <a:rPr lang="en-US" dirty="0"/>
                  <a:t>A survival tree was fitted. </a:t>
                </a:r>
                <a:r>
                  <a:rPr lang="en-US" altLang="zh-CN" dirty="0"/>
                  <a:t>Model complexity was controlled and terminal nodes defined risk strata. Survival differences were evaluated using Kaplan–Meier curves.</a:t>
                </a:r>
                <a:endParaRPr dirty="0"/>
              </a:p>
            </p:txBody>
          </p:sp>
        </mc:Choice>
        <mc:Fallback>
          <p:sp>
            <p:nvSpPr>
              <p:cNvPr id="41" name="Google Shape;41;p10">
                <a:extLst>
                  <a:ext uri="{FF2B5EF4-FFF2-40B4-BE49-F238E27FC236}">
                    <a16:creationId xmlns:a16="http://schemas.microsoft.com/office/drawing/2014/main" id="{EB38ABA2-4EF3-7722-FD13-D6C7D32B99D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863495" y="1066798"/>
                <a:ext cx="10465007" cy="4953001"/>
              </a:xfrm>
              <a:prstGeom prst="rect">
                <a:avLst/>
              </a:prstGeom>
              <a:blipFill>
                <a:blip r:embed="rId3"/>
                <a:stretch>
                  <a:fillRect l="-1399" r="-8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Model 0: Clinical-Only GLMM (Ch. 1)</a:t>
            </a:r>
          </a:p>
          <a:p>
            <a:pPr>
              <a:spcBef>
                <a:spcPts val="400"/>
              </a:spcBef>
            </a:pPr>
            <a:r>
              <a:rPr sz="1600"/>
              <a:t>logit(P(progression)) = Xᵀβ + b_i,  b_i ~ N(0, σ²)</a:t>
            </a:r>
          </a:p>
          <a:p>
            <a:pPr>
              <a:spcBef>
                <a:spcPts val="200"/>
              </a:spcBef>
            </a:pPr>
            <a:r>
              <a:rPr sz="1600"/>
              <a:t>Covariates: age, sex, stage, MSI status, treatment, prior medications</a:t>
            </a:r>
          </a:p>
          <a:p>
            <a:pPr>
              <a:spcBef>
                <a:spcPts val="1400"/>
              </a:spcBef>
            </a:pPr>
            <a:r>
              <a:rPr sz="2200" b="1"/>
              <a:t>Model A: Clinical + CEA Trajectory GLMM (Ch. 1)</a:t>
            </a:r>
          </a:p>
          <a:p>
            <a:pPr>
              <a:spcBef>
                <a:spcPts val="400"/>
              </a:spcBef>
            </a:pPr>
            <a:r>
              <a:rPr sz="1600"/>
              <a:t>Adds: log(CEA), 90-day CEA slope, CEA coefficient of variation</a:t>
            </a:r>
          </a:p>
          <a:p>
            <a:pPr>
              <a:spcBef>
                <a:spcPts val="200"/>
              </a:spcBef>
            </a:pPr>
            <a:r>
              <a:rPr sz="1600"/>
              <a:t>Random intercept per patient to account for within-patient correlation</a:t>
            </a:r>
          </a:p>
          <a:p>
            <a:pPr>
              <a:spcBef>
                <a:spcPts val="1400"/>
              </a:spcBef>
            </a:pPr>
            <a:r>
              <a:rPr sz="2200" b="1"/>
              <a:t>Model B: LASSO with Genomic Covariates (Ch. 4)</a:t>
            </a:r>
          </a:p>
          <a:p>
            <a:pPr>
              <a:spcBef>
                <a:spcPts val="400"/>
              </a:spcBef>
            </a:pPr>
            <a:r>
              <a:rPr sz="1600"/>
              <a:t>Adds: TMB + top 10 CRC gene mutations (APC, TP53, KRAS, PIK3CA, ...)</a:t>
            </a:r>
          </a:p>
          <a:p>
            <a:pPr>
              <a:spcBef>
                <a:spcPts val="200"/>
              </a:spcBef>
            </a:pPr>
            <a:r>
              <a:rPr sz="1600"/>
              <a:t>L1-penalized logistic regression with patient-level 5-fold CV</a:t>
            </a:r>
          </a:p>
          <a:p>
            <a:pPr>
              <a:spcBef>
                <a:spcPts val="1400"/>
              </a:spcBef>
            </a:pPr>
            <a:r>
              <a:rPr sz="2200" b="1"/>
              <a:t>Conformal Prediction Sets (Ch. 9)</a:t>
            </a:r>
          </a:p>
          <a:p>
            <a:pPr>
              <a:spcBef>
                <a:spcPts val="400"/>
              </a:spcBef>
            </a:pPr>
            <a:r>
              <a:rPr sz="1600"/>
              <a:t>Split-conformal method with 1-per-patient calibration for exchangeability</a:t>
            </a:r>
          </a:p>
          <a:p>
            <a:pPr>
              <a:spcBef>
                <a:spcPts val="200"/>
              </a:spcBef>
            </a:pPr>
            <a:r>
              <a:rPr sz="1600"/>
              <a:t>Nonconformity score: s_i = 1 - p_hat(Y_i | X_i); target coverage ≥ 90%</a:t>
            </a:r>
          </a:p>
          <a:p>
            <a:pPr>
              <a:spcBef>
                <a:spcPts val="1400"/>
              </a:spcBef>
            </a:pPr>
            <a:r>
              <a:rPr sz="2200" b="1"/>
              <a:t>Evaluation (Ch. 5-6)</a:t>
            </a:r>
          </a:p>
          <a:p>
            <a:pPr>
              <a:spcBef>
                <a:spcPts val="400"/>
              </a:spcBef>
            </a:pPr>
            <a:r>
              <a:rPr sz="1600"/>
              <a:t>AUC, Brier score, calibration slope (logit scale), DeLong test</a:t>
            </a:r>
          </a:p>
        </p:txBody>
      </p:sp>
    </p:spTree>
    <p:extLst>
      <p:ext uri="{BB962C8B-B14F-4D97-AF65-F5344CB8AC3E}">
        <p14:creationId xmlns:p14="http://schemas.microsoft.com/office/powerpoint/2010/main" val="16411197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B365D"/>
                </a:solidFill>
                <a:latin typeface="Calibri"/>
              </a:defRPr>
            </a:pPr>
            <a:r>
              <a:rPr b="1"/>
              <a:t>Primary Question: CEA Trajectory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B365D"/>
                </a:solidFill>
                <a:latin typeface="Calibri"/>
              </a:defRPr>
            </a:pPr>
            <a:r>
              <a:t>Model 0 (clinical-only): AUC = 0.647 (0.616-0.679)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Model A (clinical+CEA): AUC = 0.703 (0.673-0.733)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Key predictors (Model A, Odds Ratios):</a:t>
            </a:r>
          </a:p>
          <a:p>
            <a:pPr>
              <a:spcBef>
                <a:spcPts val="600"/>
              </a:spcBef>
            </a:pPr>
            <a:r>
              <a:rPr sz="1600"/>
              <a:t>● Stage IV: OR = 5.73 (4.65-7.07)</a:t>
            </a:r>
          </a:p>
          <a:p>
            <a:pPr>
              <a:spcBef>
                <a:spcPts val="400"/>
              </a:spcBef>
            </a:pPr>
            <a:r>
              <a:rPr sz="1600"/>
              <a:t>● CEA slope (90d): OR ~ 10⁹ (per unit/day)</a:t>
            </a:r>
          </a:p>
          <a:p>
            <a:pPr>
              <a:spcBef>
                <a:spcPts val="400"/>
              </a:spcBef>
            </a:pPr>
            <a:r>
              <a:rPr sz="1600"/>
              <a:t>● log(CEA) current: OR = 1.33 (1.29-1.37)</a:t>
            </a:r>
          </a:p>
          <a:p>
            <a:pPr>
              <a:spcBef>
                <a:spcPts val="400"/>
              </a:spcBef>
            </a:pPr>
            <a:r>
              <a:rPr sz="1600"/>
              <a:t>● MSI-H: OR = 0.19 (0.12-0.31, protective)</a:t>
            </a:r>
          </a:p>
          <a:p>
            <a:pPr>
              <a:spcBef>
                <a:spcPts val="400"/>
              </a:spcBef>
            </a:pPr>
            <a:r>
              <a:rPr sz="1600"/>
              <a:t>● Immunotherapy: OR = 0.52 (0.37-0.72)</a:t>
            </a:r>
          </a:p>
          <a:p>
            <a:pPr>
              <a:spcBef>
                <a:spcPts val="800"/>
              </a:spcBef>
            </a:pPr>
            <a:r>
              <a:rPr sz="1200"/>
              <a:t/>
            </a:r>
          </a:p>
          <a:p>
            <a:r>
              <a:rPr sz="1800" b="1"/>
              <a:t>DeLong p-value (Model 0 vs A): 3.61 × 10⁻¹⁰</a:t>
            </a:r>
          </a:p>
        </p:txBody>
      </p:sp>
      <p:pic>
        <p:nvPicPr>
          <p:cNvPr id="9" name="Picture 8" descr="fig3_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303520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B365D"/>
                </a:solidFill>
                <a:latin typeface="Calibri"/>
              </a:defRPr>
            </a:pPr>
            <a:r>
              <a:rPr b="1"/>
              <a:t>Genomic Extension: LASSO</a:t>
            </a:r>
          </a:p>
          <a:p>
            <a:pPr>
              <a:spcAft>
                <a:spcPts val="4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● All 25 covariates retained at λ_min = 0.001</a:t>
            </a:r>
          </a:p>
          <a:p>
            <a:pPr>
              <a:spcAft>
                <a:spcPts val="4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● Dominant: CEA slope (23.1), log(CEA) (0.42)</a:t>
            </a:r>
          </a:p>
          <a:p>
            <a:pPr>
              <a:spcAft>
                <a:spcPts val="4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● Key gene-level features:</a:t>
            </a:r>
          </a:p>
          <a:p>
            <a:pPr>
              <a:spcAft>
                <a:spcPts val="4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     Adverse: KRAS (0.30), PIK3CA (0.18), TP53 (0.16)</a:t>
            </a:r>
          </a:p>
          <a:p>
            <a:pPr>
              <a:spcAft>
                <a:spcPts val="4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     Protective: TCF7L2 (-0.14), MSI-H (-0.50)</a:t>
            </a:r>
          </a:p>
          <a:p>
            <a:pPr>
              <a:spcAft>
                <a:spcPts val="4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● Model B AUC: 0.703 (0.673-0.734)</a:t>
            </a:r>
          </a:p>
          <a:p>
            <a:pPr>
              <a:spcAft>
                <a:spcPts val="400"/>
              </a:spcAft>
              <a:defRPr sz="1800" b="1">
                <a:solidFill>
                  <a:srgbClr val="1B365D"/>
                </a:solidFill>
                <a:latin typeface="Calibri"/>
              </a:defRPr>
            </a:pPr>
            <a:r>
              <a:t>● DeLong A vs B: p = 0.977 (no genomic benefit)</a:t>
            </a:r>
          </a:p>
        </p:txBody>
      </p:sp>
      <p:pic>
        <p:nvPicPr>
          <p:cNvPr id="5" name="Picture 4" descr="fig4_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303520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B365D"/>
                </a:solidFill>
                <a:latin typeface="Calibri"/>
              </a:defRPr>
            </a:pPr>
            <a:r>
              <a:rPr b="1"/>
              <a:t>Conformal Prediction Sets (α = 0.10)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Coverage: 90.1%  |  Singleton: 34.7%  |  Ambiguous: 65.3%  |  Empty: 0%</a:t>
            </a:r>
          </a:p>
        </p:txBody>
      </p:sp>
      <p:pic>
        <p:nvPicPr>
          <p:cNvPr id="8" name="Picture 7" descr="fig5_conformal_singlet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737360"/>
            <a:ext cx="5669280" cy="3657600"/>
          </a:xfrm>
          <a:prstGeom prst="rect">
            <a:avLst/>
          </a:prstGeom>
        </p:spPr>
      </p:pic>
      <p:pic>
        <p:nvPicPr>
          <p:cNvPr id="9" name="Picture 8" descr="fig1_cea_trajectori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737360"/>
            <a:ext cx="5303520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51206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U-shaped pattern: model confident at</a:t>
            </a:r>
          </a:p>
          <a:p>
            <a:pPr>
              <a:spcBef>
                <a:spcPts val="200"/>
              </a:spcBef>
            </a:pPr>
            <a:r>
              <a:rPr sz="1400"/>
              <a:t>extremes (decile 1, 9-10), ambiguous</a:t>
            </a:r>
          </a:p>
          <a:p>
            <a:pPr>
              <a:spcBef>
                <a:spcPts val="200"/>
              </a:spcBef>
            </a:pPr>
            <a:r>
              <a:rPr sz="1400"/>
              <a:t>in middle risk ranges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B365D"/>
                </a:solidFill>
                <a:latin typeface="Calibri"/>
              </a:defRPr>
            </a:pPr>
            <a:r>
              <a:t>Model Comparison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2011680"/>
          <a:ext cx="9144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  <a:gridCol w="3200400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b="1"/>
                        <a:t>Model</a:t>
                      </a:r>
                    </a:p>
                  </a:txBody>
                  <a:tcPr anchor="ctr" marL="73152" marR="54864" marT="18288" marB="18288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b="1"/>
                        <a:t>AUC (95% CI)</a:t>
                      </a:r>
                    </a:p>
                  </a:txBody>
                  <a:tcPr anchor="ctr" marL="73152" marR="54864" marT="18288" marB="18288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b="1"/>
                        <a:t>Brier Score</a:t>
                      </a:r>
                    </a:p>
                  </a:txBody>
                  <a:tcPr anchor="ctr" marL="73152" marR="54864" marT="18288" marB="18288">
                    <a:solidFill>
                      <a:srgbClr val="1B365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0: GLMM (clin-only)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0.647 (0.616-0.679)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0.2480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5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A: GLMM (clin+CEA)</a:t>
                      </a:r>
                    </a:p>
                  </a:txBody>
                  <a:tcPr anchor="ctr" marL="73152" marR="54864" marT="18288" marB="18288">
                    <a:solidFill>
                      <a:srgbClr val="CAD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0.703 (0.673-0.733)</a:t>
                      </a:r>
                    </a:p>
                  </a:txBody>
                  <a:tcPr anchor="ctr" marL="73152" marR="54864" marT="18288" marB="18288">
                    <a:solidFill>
                      <a:srgbClr val="CAD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0.2288</a:t>
                      </a:r>
                    </a:p>
                  </a:txBody>
                  <a:tcPr anchor="ctr" marL="73152" marR="54864" marT="18288" marB="18288">
                    <a:solidFill>
                      <a:srgbClr val="CADC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B: LASSO (genomic)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0.703 (0.673-0.734)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0.2323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41148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B365D"/>
                </a:solidFill>
                <a:latin typeface="Calibri"/>
              </a:defRPr>
            </a:pPr>
            <a:r>
              <a:rPr b="1"/>
              <a:t>Key Findings</a:t>
            </a:r>
          </a:p>
          <a:p>
            <a:pPr>
              <a:spcAft>
                <a:spcPts val="4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● CEA trajectory significantly improves prediction: AUC 0.647 → 0.703 (p = 3.61×10⁻¹⁰)</a:t>
            </a:r>
          </a:p>
          <a:p>
            <a:pPr>
              <a:spcAft>
                <a:spcPts val="4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● Genomic covariates provide no additional benefit (p = 0.977)</a:t>
            </a:r>
          </a:p>
          <a:p>
            <a:pPr>
              <a:spcAft>
                <a:spcPts val="4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● Calibration slopes &lt; 1 in all models, indicating overconfident predictions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B365D"/>
                </a:solidFill>
                <a:latin typeface="Calibri"/>
              </a:defRPr>
            </a:pPr>
            <a:r>
              <a:t>Summary</a:t>
            </a:r>
          </a:p>
          <a:p>
            <a:pPr>
              <a:spcAft>
                <a:spcPts val="4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● CEA trajectory features are significant independent predictors of 180-day progression in CRC</a:t>
            </a:r>
          </a:p>
          <a:p>
            <a:pPr>
              <a:spcAft>
                <a:spcPts val="4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● Adding CEA slope and CV improves AUC from 0.647 to 0.703 (p &lt; 10⁻⁹)</a:t>
            </a:r>
          </a:p>
          <a:p>
            <a:pPr>
              <a:spcAft>
                <a:spcPts val="4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● Conformal prediction sets achieve 90.1% coverage with 34.7% singleton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B365D"/>
                </a:solidFill>
                <a:latin typeface="Calibri"/>
              </a:defRPr>
            </a:pPr>
            <a:r>
              <a:t>Limitations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● Calibration slopes 0.41-0.64 indicate systematic overconfidence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● Fixed-effects-only prediction ignores patient-specific BLUPs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● 14.9% patient attrition due to 90-day slope requirement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3000" b="1">
                <a:solidFill>
                  <a:srgbClr val="1B365D"/>
                </a:solidFill>
                <a:latin typeface="Calibri"/>
              </a:defRPr>
            </a:pPr>
            <a:r>
              <a:t>Future Work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● Platt scaling or isotonic recalibration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● Joint longitudinal-survival model for CEA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● External validation on independent CRC cohort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subTitle" idx="1"/>
          </p:nvPr>
        </p:nvSpPr>
        <p:spPr>
          <a:xfrm>
            <a:off x="4153025" y="2507550"/>
            <a:ext cx="6320100" cy="18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8000" b="1"/>
              <a:t>Thank you</a:t>
            </a:r>
            <a:endParaRPr sz="80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Slide 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itle Slide 5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ontent Slide 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ontent Slide 5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954</TotalTime>
  <Words>344</Words>
  <Application>Microsoft Office PowerPoint</Application>
  <PresentationFormat>宽屏</PresentationFormat>
  <Paragraphs>47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</vt:lpstr>
      <vt:lpstr>Calibri</vt:lpstr>
      <vt:lpstr>Cambria Math</vt:lpstr>
      <vt:lpstr>Title Slide 1</vt:lpstr>
      <vt:lpstr>Title Slide 5</vt:lpstr>
      <vt:lpstr>Content Slide 1</vt:lpstr>
      <vt:lpstr>Content Slide 5</vt:lpstr>
      <vt:lpstr>Intratumor Mutational Heterogeneity and Survival in Non-Small Cell Lung Cancer</vt:lpstr>
      <vt:lpstr>Introduction</vt:lpstr>
      <vt:lpstr>Introduction</vt:lpstr>
      <vt:lpstr>Data processing</vt:lpstr>
      <vt:lpstr>Data processing</vt:lpstr>
      <vt:lpstr>Statistical Methods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雅楠 方</cp:lastModifiedBy>
  <cp:revision>17</cp:revision>
  <dcterms:modified xsi:type="dcterms:W3CDTF">2026-03-10T02:23:16Z</dcterms:modified>
</cp:coreProperties>
</file>